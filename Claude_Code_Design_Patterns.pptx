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Claude Code 设计模式分析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Anthropic AI 编程代理架构深度解析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400"/>
            </a:pPr>
            <a:r>
              <a:t>• Claude Code 核心定位</a:t>
            </a:r>
          </a:p>
          <a:p>
            <a:pPr>
              <a:spcBef>
                <a:spcPts val="1800"/>
              </a:spcBef>
              <a:defRPr sz="2400"/>
            </a:pPr>
            <a:r>
              <a:t>• 核心设计模式概览</a:t>
            </a:r>
          </a:p>
          <a:p>
            <a:pPr>
              <a:spcBef>
                <a:spcPts val="1800"/>
              </a:spcBef>
              <a:defRPr sz="2400"/>
            </a:pPr>
            <a:r>
              <a:t>• 代理架构 (Agent Architecture)</a:t>
            </a:r>
          </a:p>
          <a:p>
            <a:pPr>
              <a:spcBef>
                <a:spcPts val="1800"/>
              </a:spcBef>
              <a:defRPr sz="2400"/>
            </a:pPr>
            <a:r>
              <a:t>• 工具调用系统 (Tool Use Pattern)</a:t>
            </a:r>
          </a:p>
          <a:p>
            <a:pPr>
              <a:spcBef>
                <a:spcPts val="1800"/>
              </a:spcBef>
              <a:defRPr sz="2400"/>
            </a:pPr>
            <a:r>
              <a:t>• 权限与安全机制</a:t>
            </a:r>
          </a:p>
          <a:p>
            <a:pPr>
              <a:spcBef>
                <a:spcPts val="1800"/>
              </a:spcBef>
              <a:defRPr sz="2400"/>
            </a:pPr>
            <a:r>
              <a:t>• 组件化设计</a:t>
            </a:r>
          </a:p>
          <a:p>
            <a:pPr>
              <a:spcBef>
                <a:spcPts val="1800"/>
              </a:spcBef>
              <a:defRPr sz="2400"/>
            </a:pPr>
            <a:r>
              <a:t>• 事件驱动架构</a:t>
            </a:r>
          </a:p>
          <a:p>
            <a:pPr>
              <a:spcBef>
                <a:spcPts val="1800"/>
              </a:spcBef>
              <a:defRPr sz="2400"/>
            </a:pPr>
            <a:r>
              <a:t>• 总结与启示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Claude Code 核心定位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400"/>
            </a:pPr>
            <a:r>
              <a:t>• AI 编程代理 - 专为开发者设计的终端 AI 助手</a:t>
            </a:r>
          </a:p>
          <a:p>
            <a:pPr>
              <a:spcBef>
                <a:spcPts val="1800"/>
              </a:spcBef>
              <a:defRPr sz="2400"/>
            </a:pPr>
            <a:r>
              <a:t>• IDE 集成 - VS Code 和 JetBrains 扩展</a:t>
            </a:r>
          </a:p>
          <a:p>
            <a:pPr>
              <a:spcBef>
                <a:spcPts val="1800"/>
              </a:spcBef>
              <a:defRPr sz="2400"/>
            </a:pPr>
            <a:r>
              <a:t>• 安全优先 - 运行时权限控制，所有操作需用户授权</a:t>
            </a:r>
          </a:p>
          <a:p>
            <a:pPr>
              <a:spcBef>
                <a:spcPts val="1800"/>
              </a:spcBef>
              <a:defRPr sz="2400"/>
            </a:pPr>
            <a:r>
              <a:t>• 可审计 - 完整的操作日志和审计追踪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核心设计模式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400"/>
            </a:pPr>
            <a:r>
              <a:t>• 代理模式 (Agentic Pattern) - 自主任务规划与执行</a:t>
            </a:r>
          </a:p>
          <a:p>
            <a:pPr>
              <a:spcBef>
                <a:spcPts val="1800"/>
              </a:spcBef>
              <a:defRPr sz="2400"/>
            </a:pPr>
            <a:r>
              <a:t>• 工具调用模式 (Tool Use) - 统一的工具抽象接口</a:t>
            </a:r>
          </a:p>
          <a:p>
            <a:pPr>
              <a:spcBef>
                <a:spcPts val="1800"/>
              </a:spcBef>
              <a:defRPr sz="2400"/>
            </a:pPr>
            <a:r>
              <a:t>• 权限模式 (Permission Pattern) - 运行时安全控制</a:t>
            </a:r>
          </a:p>
          <a:p>
            <a:pPr>
              <a:spcBef>
                <a:spcPts val="1800"/>
              </a:spcBef>
              <a:defRPr sz="2400"/>
            </a:pPr>
            <a:r>
              <a:t>• 组件化模式 (Component Pattern) - UI 组件复用</a:t>
            </a:r>
          </a:p>
          <a:p>
            <a:pPr>
              <a:spcBef>
                <a:spcPts val="1800"/>
              </a:spcBef>
              <a:defRPr sz="2400"/>
            </a:pPr>
            <a:r>
              <a:t>• 事件驱动模式 (Event-Driven) - 异步消息处理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代理架构模式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400"/>
            </a:pPr>
            <a:r>
              <a:t>• 用户输入 → Agent Core → Task Planner</a:t>
            </a:r>
          </a:p>
          <a:p>
            <a:pPr>
              <a:spcBef>
                <a:spcPts val="1800"/>
              </a:spcBef>
              <a:defRPr sz="2400"/>
            </a:pPr>
            <a:r>
              <a:t>• Tool Executor - 工具执行器</a:t>
            </a:r>
          </a:p>
          <a:p>
            <a:pPr>
              <a:spcBef>
                <a:spcPts val="1800"/>
              </a:spcBef>
              <a:defRPr sz="2400"/>
            </a:pPr>
            <a:r>
              <a:t>• Context Manager - 上下文管理器</a:t>
            </a:r>
          </a:p>
          <a:p>
            <a:pPr>
              <a:spcBef>
                <a:spcPts val="1800"/>
              </a:spcBef>
              <a:defRPr sz="2400"/>
            </a:pPr>
            <a:r>
              <a:t>• Permission Handler - 权限处理器</a:t>
            </a:r>
          </a:p>
          <a:p>
            <a:pPr>
              <a:spcBef>
                <a:spcPts val="1800"/>
              </a:spcBef>
              <a:defRPr sz="2400"/>
            </a:pPr>
            <a:r>
              <a:t>• 迭代式问题解决与自我修正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工具调用模式 (Tool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400"/>
            </a:pPr>
            <a:r>
              <a:t>• Read - 读取文件内容，支持多文件并行</a:t>
            </a:r>
          </a:p>
          <a:p>
            <a:pPr>
              <a:spcBef>
                <a:spcPts val="1800"/>
              </a:spcBef>
              <a:defRPr sz="2400"/>
            </a:pPr>
            <a:r>
              <a:t>• Edit - 精确编辑，支持字符串匹配替换</a:t>
            </a:r>
          </a:p>
          <a:p>
            <a:pPr>
              <a:spcBef>
                <a:spcPts val="1800"/>
              </a:spcBef>
              <a:defRPr sz="2400"/>
            </a:pPr>
            <a:r>
              <a:t>• Write - 创建或覆盖文件</a:t>
            </a:r>
          </a:p>
          <a:p>
            <a:pPr>
              <a:spcBef>
                <a:spcPts val="1800"/>
              </a:spcBef>
              <a:defRPr sz="2400"/>
            </a:pPr>
            <a:r>
              <a:t>• Bash - 执行 Shell 命令，超时控制</a:t>
            </a:r>
          </a:p>
          <a:p>
            <a:pPr>
              <a:spcBef>
                <a:spcPts val="1800"/>
              </a:spcBef>
              <a:defRPr sz="2400"/>
            </a:pPr>
            <a:r>
              <a:t>• WebFetch - 获取网页内容</a:t>
            </a:r>
          </a:p>
          <a:p>
            <a:pPr>
              <a:spcBef>
                <a:spcPts val="1800"/>
              </a:spcBef>
              <a:defRPr sz="2400"/>
            </a:pPr>
            <a:r>
              <a:t>• Search - 代码库搜索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权限与安全机制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400"/>
            </a:pPr>
            <a:r>
              <a:t>• Browse - 读取权限</a:t>
            </a:r>
          </a:p>
          <a:p>
            <a:pPr>
              <a:spcBef>
                <a:spcPts val="1800"/>
              </a:spcBef>
              <a:defRPr sz="2400"/>
            </a:pPr>
            <a:r>
              <a:t>• Edit - 修改权限</a:t>
            </a:r>
          </a:p>
          <a:p>
            <a:pPr>
              <a:spcBef>
                <a:spcPts val="1800"/>
              </a:spcBef>
              <a:defRPr sz="2400"/>
            </a:pPr>
            <a:r>
              <a:t>• Execute - 执行权限</a:t>
            </a:r>
          </a:p>
          <a:p>
            <a:pPr>
              <a:spcBef>
                <a:spcPts val="1800"/>
              </a:spcBef>
              <a:defRPr sz="2400"/>
            </a:pPr>
            <a:r>
              <a:t>• WebFetch - 网络访问权限</a:t>
            </a:r>
          </a:p>
          <a:p>
            <a:pPr>
              <a:spcBef>
                <a:spcPts val="1800"/>
              </a:spcBef>
              <a:defRPr sz="2400"/>
            </a:pPr>
            <a:r>
              <a:t>• 运行时权限确认 + 项目级配置 + CLI 标志限制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组件化设计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400"/>
            </a:pPr>
            <a:r>
              <a:t>• BasePermissionRequest - 基类组件</a:t>
            </a:r>
          </a:p>
          <a:p>
            <a:pPr>
              <a:spcBef>
                <a:spcPts val="1800"/>
              </a:spcBef>
              <a:defRPr sz="2400"/>
            </a:pPr>
            <a:r>
              <a:t>• FileEditPermissionRequest - 文件编辑权限</a:t>
            </a:r>
          </a:p>
          <a:p>
            <a:pPr>
              <a:spcBef>
                <a:spcPts val="1800"/>
              </a:spcBef>
              <a:defRPr sz="2400"/>
            </a:pPr>
            <a:r>
              <a:t>• WebFetchPermissionRequest - 网络请求权限</a:t>
            </a:r>
          </a:p>
          <a:p>
            <a:pPr>
              <a:spcBef>
                <a:spcPts val="1800"/>
              </a:spcBef>
              <a:defRPr sz="2400"/>
            </a:pPr>
            <a:r>
              <a:t>• FallbackPermissionRequest - 回退处理</a:t>
            </a:r>
          </a:p>
          <a:p>
            <a:pPr>
              <a:spcBef>
                <a:spcPts val="1800"/>
              </a:spcBef>
              <a:defRPr sz="2400"/>
            </a:pPr>
            <a:r>
              <a:t>• 统一的日志记录 (utils.ts)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事件驱动架构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400"/>
            </a:pPr>
            <a:r>
              <a:t>• 工具调用事件 - 记录所有工具使用</a:t>
            </a:r>
          </a:p>
          <a:p>
            <a:pPr>
              <a:spcBef>
                <a:spcPts val="1800"/>
              </a:spcBef>
              <a:defRPr sz="2400"/>
            </a:pPr>
            <a:r>
              <a:t>• 权限事件 - 追踪权限请求和响应</a:t>
            </a:r>
          </a:p>
          <a:p>
            <a:pPr>
              <a:spcBef>
                <a:spcPts val="1800"/>
              </a:spcBef>
              <a:defRPr sz="2400"/>
            </a:pPr>
            <a:r>
              <a:t>• 错误事件 - 统一错误处理</a:t>
            </a:r>
          </a:p>
          <a:p>
            <a:pPr>
              <a:spcBef>
                <a:spcPts val="1800"/>
              </a:spcBef>
              <a:defRPr sz="2400"/>
            </a:pPr>
            <a:r>
              <a:t>• 审计日志 - 完整的操作历史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总结与启示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400"/>
            </a:pPr>
            <a:r>
              <a:t>• 安全优先 - 权限控制贯穿始终</a:t>
            </a:r>
          </a:p>
          <a:p>
            <a:pPr>
              <a:spcBef>
                <a:spcPts val="1800"/>
              </a:spcBef>
              <a:defRPr sz="2400"/>
            </a:pPr>
            <a:r>
              <a:t>• 组件化 - 易于扩展和维护</a:t>
            </a:r>
          </a:p>
          <a:p>
            <a:pPr>
              <a:spcBef>
                <a:spcPts val="1800"/>
              </a:spcBef>
              <a:defRPr sz="2400"/>
            </a:pPr>
            <a:r>
              <a:t>• 可观测 - 完整的事件和日志系统</a:t>
            </a:r>
          </a:p>
          <a:p>
            <a:pPr>
              <a:spcBef>
                <a:spcPts val="1800"/>
              </a:spcBef>
              <a:defRPr sz="2400"/>
            </a:pPr>
            <a:r>
              <a:t>• 用户可控 - 透明的操作和授权机制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